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92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B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0152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Supermarket Management System</a:t>
            </a:r>
          </a:p>
          <a:p>
            <a:pPr>
              <a:defRPr sz="2400">
                <a:solidFill>
                  <a:srgbClr val="B4C8DC"/>
                </a:solidFill>
                <a:latin typeface="Arial"/>
              </a:defRPr>
            </a:pPr>
            <a:r>
              <a:t>نظام برمجى متكامل لإدارة المخزون، المبيعات، وصلاحيات المستخدمين بلغة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  <a:latin typeface="Arial"/>
              </a:defRPr>
            </a:pPr>
            <a:r>
              <a:t>المشكلة وأهداف المشروع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20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المشكلة الواقعية: الصعوبة العالية في إدارة المخازن يدويًا، وتداخل صلاحيات الموظفين، وهدر المنتجات بسبب انتهاء الصلاحية.</a:t>
            </a:r>
          </a:p>
          <a:p>
            <a:pPr>
              <a:spcAft>
                <a:spcPts val="20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أهداف النظام البرمجي: بناء نظام خفيف الوزن (Lightweight) وعالي الكفاءة لا يستهلك موارد الأجهزة.</a:t>
            </a:r>
          </a:p>
          <a:p>
            <a:pPr>
              <a:spcAft>
                <a:spcPts val="20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أمن البيانات: تطبيق نموذج التحكم بالوصول المستند إلى الأدوار (RBAC) لحماية الملفات وحسابات الموظفين.</a:t>
            </a:r>
          </a:p>
          <a:p>
            <a:pPr>
              <a:spcAft>
                <a:spcPts val="20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دعم القرار: توفير تقارير مالية فورية وتحليلات ذكية للمبيعات تساعد الإدارة على اتخاذ القرارات التسويقية الفعالة.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  <a:latin typeface="Arial"/>
              </a:defRPr>
            </a:pPr>
            <a:r>
              <a:t>معمارية النظام وتدفق البيانات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2377440" cy="1645920"/>
          </a:xfrm>
          <a:prstGeom prst="round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inventory.txt</a:t>
            </a:r>
            <a:br/>
            <a:r>
              <a:t>(بيانات المنتجات)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2286000"/>
            <a:ext cx="2377440" cy="1645920"/>
          </a:xfrm>
          <a:prstGeom prst="round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sales.txt</a:t>
            </a:r>
            <a:br/>
            <a:r>
              <a:t>(سجل المبيعات)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286000"/>
            <a:ext cx="2377440" cy="1645920"/>
          </a:xfrm>
          <a:prstGeom prst="round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accounts.txt</a:t>
            </a:r>
            <a:br/>
            <a:r>
              <a:t>(بيانات الموظفين)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286000"/>
            <a:ext cx="2377440" cy="1645920"/>
          </a:xfrm>
          <a:prstGeom prst="round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  <a:latin typeface="Arial"/>
              </a:defRPr>
            </a:pPr>
            <a:r>
              <a:t>rules.txt</a:t>
            </a:r>
            <a:br/>
            <a:r>
              <a:t>(العروض والخصومات)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428" y="4572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rPr dirty="0"/>
              <a:t>✔ </a:t>
            </a:r>
            <a:r>
              <a:rPr dirty="0" err="1"/>
              <a:t>الاعتماد</a:t>
            </a:r>
            <a:r>
              <a:rPr dirty="0"/>
              <a:t> </a:t>
            </a:r>
            <a:r>
              <a:rPr dirty="0" err="1"/>
              <a:t>على</a:t>
            </a:r>
            <a:r>
              <a:rPr dirty="0"/>
              <a:t> </a:t>
            </a:r>
            <a:r>
              <a:rPr dirty="0" err="1"/>
              <a:t>الملفات</a:t>
            </a:r>
            <a:r>
              <a:rPr dirty="0"/>
              <a:t> </a:t>
            </a:r>
            <a:r>
              <a:rPr dirty="0" err="1"/>
              <a:t>النصية</a:t>
            </a:r>
            <a:r>
              <a:rPr dirty="0"/>
              <a:t> </a:t>
            </a:r>
            <a:r>
              <a:rPr dirty="0" err="1"/>
              <a:t>الثابتة</a:t>
            </a:r>
            <a:r>
              <a:rPr dirty="0"/>
              <a:t> (Flat Files) </a:t>
            </a:r>
            <a:r>
              <a:rPr dirty="0" err="1"/>
              <a:t>لضمان</a:t>
            </a:r>
            <a:r>
              <a:rPr dirty="0"/>
              <a:t> </a:t>
            </a:r>
            <a:r>
              <a:rPr dirty="0" err="1"/>
              <a:t>استمرارية</a:t>
            </a:r>
            <a:r>
              <a:rPr dirty="0"/>
              <a:t> </a:t>
            </a:r>
            <a:r>
              <a:rPr dirty="0" err="1"/>
              <a:t>البيانات</a:t>
            </a:r>
            <a:r>
              <a:rPr dirty="0"/>
              <a:t> (Data Persistence) </a:t>
            </a:r>
            <a:r>
              <a:rPr dirty="0" err="1"/>
              <a:t>وسهولة</a:t>
            </a:r>
            <a:r>
              <a:rPr dirty="0"/>
              <a:t> </a:t>
            </a:r>
            <a:r>
              <a:rPr dirty="0" err="1"/>
              <a:t>النقل</a:t>
            </a:r>
            <a:r>
              <a:rPr dirty="0"/>
              <a:t> </a:t>
            </a:r>
            <a:r>
              <a:rPr dirty="0" err="1"/>
              <a:t>دون</a:t>
            </a:r>
            <a:r>
              <a:rPr dirty="0"/>
              <a:t> </a:t>
            </a:r>
            <a:r>
              <a:rPr dirty="0" err="1"/>
              <a:t>الحاجة</a:t>
            </a:r>
            <a:r>
              <a:rPr dirty="0"/>
              <a:t> </a:t>
            </a:r>
            <a:r>
              <a:rPr dirty="0" err="1"/>
              <a:t>لتثبيت</a:t>
            </a:r>
            <a:r>
              <a:rPr dirty="0"/>
              <a:t> </a:t>
            </a:r>
            <a:r>
              <a:rPr dirty="0" err="1"/>
              <a:t>محركات</a:t>
            </a:r>
            <a:r>
              <a:rPr dirty="0"/>
              <a:t> </a:t>
            </a:r>
            <a:r>
              <a:rPr dirty="0" err="1"/>
              <a:t>قواعد</a:t>
            </a:r>
            <a:r>
              <a:rPr dirty="0"/>
              <a:t> </a:t>
            </a:r>
            <a:r>
              <a:rPr dirty="0" err="1"/>
              <a:t>بيانات</a:t>
            </a:r>
            <a:r>
              <a:rPr dirty="0"/>
              <a:t> </a:t>
            </a:r>
            <a:r>
              <a:rPr dirty="0" err="1"/>
              <a:t>معقدة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44479" y="244549"/>
            <a:ext cx="670247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rtl="1">
              <a:defRPr sz="4000" b="1">
                <a:solidFill>
                  <a:srgbClr val="282828"/>
                </a:solidFill>
                <a:latin typeface="Arial"/>
              </a:defRPr>
            </a:pPr>
            <a:r>
              <a:rPr dirty="0" err="1"/>
              <a:t>تراكيب</a:t>
            </a:r>
            <a:r>
              <a:rPr dirty="0"/>
              <a:t> </a:t>
            </a:r>
            <a:r>
              <a:rPr dirty="0" err="1"/>
              <a:t>البيانات</a:t>
            </a:r>
            <a:r>
              <a:rPr dirty="0"/>
              <a:t> </a:t>
            </a:r>
            <a:r>
              <a:rPr dirty="0" err="1"/>
              <a:t>وصلاحيات</a:t>
            </a:r>
            <a:r>
              <a:rPr dirty="0"/>
              <a:t> </a:t>
            </a:r>
            <a:r>
              <a:rPr dirty="0" err="1"/>
              <a:t>المستخدمين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الهياكل البرمجية (Structures): استخدام تركيب Product لإدارة سمات السلع، و Account للحسابات، و SaleRecord لتوثيق المبيعات.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صلاحيات نظام إدارة الموظفين والأدوار المتاحة:</a:t>
            </a:r>
          </a:p>
          <a:p>
            <a:pPr>
              <a:spcAft>
                <a:spcPts val="1000"/>
              </a:spcAft>
              <a:defRPr sz="1800">
                <a:solidFill>
                  <a:srgbClr val="2E7559"/>
                </a:solidFill>
                <a:latin typeface="Arial"/>
              </a:defRPr>
            </a:pPr>
            <a:r>
              <a:t>   - المدير (Manager): صلاحيات كاملة (تعديل الأسعار، مراجعة الأرباح، إضافة الحسابات، إدارة الخصومات).</a:t>
            </a:r>
          </a:p>
          <a:p>
            <a:pPr>
              <a:spcAft>
                <a:spcPts val="1000"/>
              </a:spcAft>
              <a:defRPr sz="1800">
                <a:solidFill>
                  <a:srgbClr val="2E7559"/>
                </a:solidFill>
                <a:latin typeface="Arial"/>
              </a:defRPr>
            </a:pPr>
            <a:r>
              <a:t>   - المشرف (Supervisor): التحكم في المخزن، جرد السلع، وإدخال شحنات المنتجات الجديدة.</a:t>
            </a:r>
          </a:p>
          <a:p>
            <a:pPr>
              <a:spcAft>
                <a:spcPts val="1000"/>
              </a:spcAft>
              <a:defRPr sz="1800">
                <a:solidFill>
                  <a:srgbClr val="2E7559"/>
                </a:solidFill>
                <a:latin typeface="Arial"/>
              </a:defRPr>
            </a:pPr>
            <a:r>
              <a:t>   - الكاشير (Cashier): مراجعة الفواتير المعلقة، تأكيد عمليات الدفع النقدي، وطباعة وصولات الشراء.</a:t>
            </a:r>
          </a:p>
          <a:p>
            <a:pPr>
              <a:spcAft>
                <a:spcPts val="1000"/>
              </a:spcAft>
              <a:defRPr sz="1800">
                <a:solidFill>
                  <a:srgbClr val="2E7559"/>
                </a:solidFill>
                <a:latin typeface="Arial"/>
              </a:defRPr>
            </a:pPr>
            <a:r>
              <a:t>   - الزبون (Customer): تصفح السلع، إدارة سلة التسوق الشخصية، وتقديم طلبات الشراء أو الاسترجاع.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  <a:latin typeface="Arial"/>
              </a:defRPr>
            </a:pPr>
            <a:r>
              <a:t>دورة حياة الطلب وعملية الشراء المدمجة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2377440" cy="2286000"/>
          </a:xfrm>
          <a:prstGeom prst="rect">
            <a:avLst/>
          </a:prstGeom>
          <a:solidFill>
            <a:srgbClr val="E6EBF5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82828"/>
                </a:solidFill>
                <a:latin typeface="Arial"/>
              </a:defRPr>
            </a:pPr>
            <a:r>
              <a:t>1. سلة الزبون</a:t>
            </a:r>
            <a:br/>
            <a:r>
              <a:t>يختار السلع وتُحسب الحصص والخصومات تلقائيًا.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6160" y="2560320"/>
            <a:ext cx="2377440" cy="2286000"/>
          </a:xfrm>
          <a:prstGeom prst="rect">
            <a:avLst/>
          </a:prstGeom>
          <a:solidFill>
            <a:srgbClr val="E6EBF5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82828"/>
                </a:solidFill>
                <a:latin typeface="Arial"/>
              </a:defRPr>
            </a:pPr>
            <a:r>
              <a:t>2. الطلب المعلق</a:t>
            </a:r>
            <a:br/>
            <a:r>
              <a:t>يُحفظ كـ Pending Order ويُخصم مؤقتًا من المخزون لحجزه.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2560320"/>
            <a:ext cx="2377440" cy="2286000"/>
          </a:xfrm>
          <a:prstGeom prst="rect">
            <a:avLst/>
          </a:prstGeom>
          <a:solidFill>
            <a:srgbClr val="E6EBF5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82828"/>
                </a:solidFill>
                <a:latin typeface="Arial"/>
              </a:defRPr>
            </a:pPr>
            <a:r>
              <a:t>3. مراجعة الكاشير</a:t>
            </a:r>
            <a:br/>
            <a:r>
              <a:t>يستدعي الكاشير الطلب عبر الملف المؤقت لتأكيد الدفع.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0" y="2560320"/>
            <a:ext cx="2377440" cy="2286000"/>
          </a:xfrm>
          <a:prstGeom prst="rect">
            <a:avLst/>
          </a:prstGeom>
          <a:solidFill>
            <a:srgbClr val="E6EBF5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82828"/>
                </a:solidFill>
                <a:latin typeface="Arial"/>
              </a:defRPr>
            </a:pPr>
            <a:r>
              <a:t>4. الفاتورة والتقرير</a:t>
            </a:r>
            <a:br/>
            <a:r>
              <a:t>تُرحل البيانات لملف المبيعات، ويُطبع إيصال العميل.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17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82828"/>
                </a:solidFill>
                <a:latin typeface="Arial"/>
              </a:defRPr>
            </a:pPr>
            <a:r>
              <a:t>الميزات المتقدمة المدمجة بالنظام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500"/>
              </a:spcAft>
              <a:defRPr sz="1900">
                <a:solidFill>
                  <a:srgbClr val="282828"/>
                </a:solidFill>
                <a:latin typeface="Arial"/>
              </a:defRPr>
            </a:pPr>
            <a:r>
              <a:t>• محرك الخصومات الذكي (Sale Rules): يسمح للمدير ببرمجة خطط تسويقية متقدمة مثل (اشتري X واحصل على Y مجانًا) وتطبيقها تلقائيًا في سلة المشتريات.</a:t>
            </a:r>
          </a:p>
          <a:p>
            <a:pPr>
              <a:spcAft>
                <a:spcPts val="1500"/>
              </a:spcAft>
              <a:defRPr sz="1900">
                <a:solidFill>
                  <a:srgbClr val="282828"/>
                </a:solidFill>
                <a:latin typeface="Arial"/>
              </a:defRPr>
            </a:pPr>
            <a:r>
              <a:t>• الفحص التلقائي للصلاحية: مقارنة تواريخ انتهاء المنتجات بالوقت الفعلي للجهاز وعزل السلع التالفة في ملف مستقل.</a:t>
            </a:r>
          </a:p>
          <a:p>
            <a:pPr>
              <a:spcAft>
                <a:spcPts val="1500"/>
              </a:spcAft>
              <a:defRPr sz="1900">
                <a:solidFill>
                  <a:srgbClr val="282828"/>
                </a:solidFill>
                <a:latin typeface="Arial"/>
              </a:defRPr>
            </a:pPr>
            <a:r>
              <a:t>• نظام المرتجعات المشروط: يتيح للزبون إرجاع المنتج التالف أو المنتهي الصلاحية فقط حمايةً لأرباح المتجر.</a:t>
            </a:r>
          </a:p>
          <a:p>
            <a:pPr>
              <a:spcAft>
                <a:spcPts val="1500"/>
              </a:spcAft>
              <a:defRPr sz="1900">
                <a:solidFill>
                  <a:srgbClr val="282828"/>
                </a:solidFill>
                <a:latin typeface="Arial"/>
              </a:defRPr>
            </a:pPr>
            <a:r>
              <a:t>• التحليلات الإحصائية (Analytics): تصنيف ذكي للمبيعات حسب أقسام المتجر الخمسة وتحديد (القسم الأكثر مبيعًا) لدعم التخطيط التسويقي.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425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Ahmed</cp:lastModifiedBy>
  <cp:revision>2</cp:revision>
  <dcterms:created xsi:type="dcterms:W3CDTF">2013-01-27T09:14:16Z</dcterms:created>
  <dcterms:modified xsi:type="dcterms:W3CDTF">2026-05-17T04:50:04Z</dcterms:modified>
  <cp:category/>
</cp:coreProperties>
</file>